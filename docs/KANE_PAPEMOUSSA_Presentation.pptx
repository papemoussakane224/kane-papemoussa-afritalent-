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471CC-E59F-4B14-A5D5-7D5DE3FDA6DC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374D9-3D88-4D7D-8701-7B903678A9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799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374D9-3D88-4D7D-8701-7B903678A90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25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537169"/>
      </p:ext>
    </p:extLst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19422"/>
      </p:ext>
    </p:extLst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0500751"/>
      </p:ext>
    </p:extLst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5467547"/>
      </p:ext>
    </p:extLst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839228"/>
      </p:ext>
    </p:extLst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374953"/>
      </p:ext>
    </p:extLst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0210784"/>
      </p:ext>
    </p:extLst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6117243"/>
      </p:ext>
    </p:extLst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4624534"/>
      </p:ext>
    </p:extLst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689655"/>
      </p:ext>
    </p:extLst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0889277"/>
      </p:ext>
    </p:extLst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1107953"/>
      </p:ext>
    </p:extLst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9266775"/>
      </p:ext>
    </p:extLst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380733"/>
      </p:ext>
    </p:extLst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023240"/>
      </p:ext>
    </p:extLst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7342069"/>
      </p:ext>
    </p:extLst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D6E27-0609-4111-934E-03A5C6057C38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750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ransition spd="slow">
    <p:split orient="vert"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tm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D44393A-6433-22FD-34D8-6119B043227F}"/>
              </a:ext>
            </a:extLst>
          </p:cNvPr>
          <p:cNvSpPr txBox="1"/>
          <p:nvPr/>
        </p:nvSpPr>
        <p:spPr>
          <a:xfrm>
            <a:off x="122944" y="614723"/>
            <a:ext cx="1053481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dirty="0">
                <a:latin typeface="Elephant" panose="02020904090505020303" pitchFamily="18" charset="0"/>
              </a:rPr>
              <a:t>AfriTalent 🌍</a:t>
            </a:r>
          </a:p>
          <a:p>
            <a:r>
              <a:rPr lang="fr-FR" sz="3200" dirty="0">
                <a:latin typeface="Berlin Sans FB Demi" panose="020E0802020502020306" pitchFamily="34" charset="0"/>
              </a:rPr>
              <a:t>Plateforme de freelancing tech en Afrique</a:t>
            </a:r>
          </a:p>
          <a:p>
            <a:endParaRPr lang="fr-FR" sz="3200" dirty="0">
              <a:latin typeface="Berlin Sans FB Demi" panose="020E0802020502020306" pitchFamily="34" charset="0"/>
            </a:endParaRPr>
          </a:p>
          <a:p>
            <a:r>
              <a:rPr lang="fr-FR" sz="3200" dirty="0">
                <a:latin typeface="Berlin Sans FB Demi" panose="020E0802020502020306" pitchFamily="34" charset="0"/>
              </a:rPr>
              <a:t>KANE Pape Moussa</a:t>
            </a:r>
          </a:p>
          <a:p>
            <a:r>
              <a:rPr lang="fr-FR" sz="3200" dirty="0">
                <a:latin typeface="Berlin Sans FB Demi" panose="020E0802020502020306" pitchFamily="34" charset="0"/>
              </a:rPr>
              <a:t>L1 IAGE — ISI Institut Supérieur d'Informatique</a:t>
            </a:r>
          </a:p>
          <a:p>
            <a:endParaRPr lang="fr-FR" sz="3200" dirty="0">
              <a:latin typeface="Berlin Sans FB Demi" panose="020E0802020502020306" pitchFamily="34" charset="0"/>
            </a:endParaRPr>
          </a:p>
          <a:p>
            <a:r>
              <a:rPr lang="fr-FR" sz="3200" dirty="0">
                <a:latin typeface="Berlin Sans FB Demi" panose="020E0802020502020306" pitchFamily="34" charset="0"/>
              </a:rPr>
              <a:t>Date : [MERCREDI LE 16 JUIN 2026]</a:t>
            </a:r>
          </a:p>
        </p:txBody>
      </p:sp>
    </p:spTree>
    <p:extLst>
      <p:ext uri="{BB962C8B-B14F-4D97-AF65-F5344CB8AC3E}">
        <p14:creationId xmlns:p14="http://schemas.microsoft.com/office/powerpoint/2010/main" val="4052771693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CA0A37A-1BF3-760A-4054-60925B2597C2}"/>
              </a:ext>
            </a:extLst>
          </p:cNvPr>
          <p:cNvSpPr txBox="1"/>
          <p:nvPr/>
        </p:nvSpPr>
        <p:spPr>
          <a:xfrm>
            <a:off x="712098" y="173979"/>
            <a:ext cx="715336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dirty="0"/>
              <a:t>Sommaire</a:t>
            </a:r>
          </a:p>
          <a:p>
            <a:endParaRPr lang="fr-FR" dirty="0"/>
          </a:p>
          <a:p>
            <a:r>
              <a:rPr lang="fr-FR" sz="3600" dirty="0">
                <a:latin typeface="Berlin Sans FB Demi" panose="020E0802020502020306" pitchFamily="34" charset="0"/>
              </a:rPr>
              <a:t>1. Contexte du projet</a:t>
            </a:r>
          </a:p>
          <a:p>
            <a:r>
              <a:rPr lang="fr-FR" sz="3600" dirty="0">
                <a:latin typeface="Berlin Sans FB Demi" panose="020E0802020502020306" pitchFamily="34" charset="0"/>
              </a:rPr>
              <a:t>2. Choix de design</a:t>
            </a:r>
          </a:p>
          <a:p>
            <a:r>
              <a:rPr lang="fr-FR" sz="3600" dirty="0">
                <a:latin typeface="Berlin Sans FB Demi" panose="020E0802020502020306" pitchFamily="34" charset="0"/>
              </a:rPr>
              <a:t>3. Architecture du site</a:t>
            </a:r>
          </a:p>
          <a:p>
            <a:r>
              <a:rPr lang="fr-FR" sz="3600" dirty="0">
                <a:latin typeface="Berlin Sans FB Demi" panose="020E0802020502020306" pitchFamily="34" charset="0"/>
              </a:rPr>
              <a:t>4. Points techniques</a:t>
            </a:r>
          </a:p>
          <a:p>
            <a:r>
              <a:rPr lang="fr-FR" sz="3600" dirty="0">
                <a:latin typeface="Berlin Sans FB Demi" panose="020E0802020502020306" pitchFamily="34" charset="0"/>
              </a:rPr>
              <a:t>5. GitHub &amp; déploiement</a:t>
            </a:r>
          </a:p>
          <a:p>
            <a:r>
              <a:rPr lang="fr-FR" sz="3600" dirty="0">
                <a:latin typeface="Berlin Sans FB Demi" panose="020E0802020502020306" pitchFamily="34" charset="0"/>
              </a:rPr>
              <a:t>6. Difficultés rencontrées</a:t>
            </a:r>
          </a:p>
          <a:p>
            <a:r>
              <a:rPr lang="fr-FR" sz="3600" dirty="0">
                <a:latin typeface="Berlin Sans FB Demi" panose="020E0802020502020306" pitchFamily="34" charset="0"/>
              </a:rPr>
              <a:t>7. Ressources utilisées</a:t>
            </a:r>
          </a:p>
          <a:p>
            <a:r>
              <a:rPr lang="fr-FR" sz="3600" dirty="0">
                <a:latin typeface="Berlin Sans FB Demi" panose="020E0802020502020306" pitchFamily="34" charset="0"/>
              </a:rPr>
              <a:t>8. Démonstration live</a:t>
            </a:r>
          </a:p>
          <a:p>
            <a:r>
              <a:rPr lang="fr-FR" sz="3600" dirty="0">
                <a:latin typeface="Berlin Sans FB Demi" panose="020E0802020502020306" pitchFamily="34" charset="0"/>
              </a:rPr>
              <a:t>9. Conclusion &amp; perspectives</a:t>
            </a:r>
          </a:p>
        </p:txBody>
      </p:sp>
    </p:spTree>
    <p:extLst>
      <p:ext uri="{BB962C8B-B14F-4D97-AF65-F5344CB8AC3E}">
        <p14:creationId xmlns:p14="http://schemas.microsoft.com/office/powerpoint/2010/main" val="4259004078"/>
      </p:ext>
    </p:extLst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A9684E9-E450-6AC4-5E32-113B07A6E03B}"/>
              </a:ext>
            </a:extLst>
          </p:cNvPr>
          <p:cNvSpPr txBox="1"/>
          <p:nvPr/>
        </p:nvSpPr>
        <p:spPr>
          <a:xfrm>
            <a:off x="548640" y="261257"/>
            <a:ext cx="8743405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Elephant" panose="02020904090505020303" pitchFamily="18" charset="0"/>
              </a:rPr>
              <a:t>Contexte du projet</a:t>
            </a:r>
          </a:p>
          <a:p>
            <a:endParaRPr lang="fr-FR" dirty="0"/>
          </a:p>
          <a:p>
            <a:r>
              <a:rPr lang="fr-FR" dirty="0"/>
              <a:t>🌍 </a:t>
            </a:r>
            <a:r>
              <a:rPr lang="fr-FR" sz="2400" dirty="0">
                <a:latin typeface="Elephant" panose="02020904090505020303" pitchFamily="18" charset="0"/>
              </a:rPr>
              <a:t>Le marché du freelance tech en Afrique connaît </a:t>
            </a:r>
          </a:p>
          <a:p>
            <a:r>
              <a:rPr lang="fr-FR" sz="2400" dirty="0">
                <a:latin typeface="Elephant" panose="02020904090505020303" pitchFamily="18" charset="0"/>
              </a:rPr>
              <a:t>une croissance explosive.</a:t>
            </a:r>
          </a:p>
          <a:p>
            <a:endParaRPr lang="fr-FR" sz="2400" dirty="0">
              <a:latin typeface="Elephant" panose="02020904090505020303" pitchFamily="18" charset="0"/>
            </a:endParaRPr>
          </a:p>
          <a:p>
            <a:r>
              <a:rPr lang="fr-FR" sz="2400" dirty="0">
                <a:latin typeface="Elephant" panose="02020904090505020303" pitchFamily="18" charset="0"/>
              </a:rPr>
              <a:t>🎯 Objectif :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Concevoir un site vitrine complet pour une 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plateforme fictive de mise en relation entre 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freelances tech et entreprises africaines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sz="2400" dirty="0">
                <a:latin typeface="Elephant" panose="02020904090505020303" pitchFamily="18" charset="0"/>
              </a:rPr>
              <a:t>👥 Public cible :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Freelances tech (développeurs, designers, etc.)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Entreprises à la recherche de talents</a:t>
            </a:r>
          </a:p>
          <a:p>
            <a:endParaRPr lang="fr-FR" sz="2400" dirty="0">
              <a:latin typeface="Berlin Sans FB" panose="020E0602020502020306" pitchFamily="34" charset="0"/>
            </a:endParaRPr>
          </a:p>
          <a:p>
            <a:r>
              <a:rPr lang="fr-FR" sz="2400" dirty="0">
                <a:latin typeface="Elephant" panose="02020904090505020303" pitchFamily="18" charset="0"/>
              </a:rPr>
              <a:t>📌 Projet individuel — Semestre 2</a:t>
            </a:r>
          </a:p>
          <a:p>
            <a:r>
              <a:rPr lang="fr-FR" dirty="0"/>
              <a:t>    </a:t>
            </a:r>
            <a:r>
              <a:rPr lang="fr-FR" sz="2400" dirty="0">
                <a:latin typeface="Berlin Sans FB" panose="020E0602020502020306" pitchFamily="34" charset="0"/>
              </a:rPr>
              <a:t>L1 IAGE — ISI Institut Supérieur d'Informatique</a:t>
            </a:r>
          </a:p>
        </p:txBody>
      </p:sp>
    </p:spTree>
    <p:extLst>
      <p:ext uri="{BB962C8B-B14F-4D97-AF65-F5344CB8AC3E}">
        <p14:creationId xmlns:p14="http://schemas.microsoft.com/office/powerpoint/2010/main" val="2657413803"/>
      </p:ext>
    </p:extLst>
  </p:cSld>
  <p:clrMapOvr>
    <a:masterClrMapping/>
  </p:clrMapOvr>
  <p:transition spd="slow"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767F2A5-81AC-FD99-95BD-CEE84DE1B9C9}"/>
              </a:ext>
            </a:extLst>
          </p:cNvPr>
          <p:cNvSpPr txBox="1"/>
          <p:nvPr/>
        </p:nvSpPr>
        <p:spPr>
          <a:xfrm>
            <a:off x="653143" y="0"/>
            <a:ext cx="8264434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Elephant" panose="02020904090505020303" pitchFamily="18" charset="0"/>
              </a:rPr>
              <a:t>Choix de design</a:t>
            </a:r>
          </a:p>
          <a:p>
            <a:endParaRPr lang="fr-FR" dirty="0"/>
          </a:p>
          <a:p>
            <a:r>
              <a:rPr lang="fr-FR" sz="2400" dirty="0">
                <a:latin typeface="Arial Black" panose="020B0A04020102020204" pitchFamily="34" charset="0"/>
              </a:rPr>
              <a:t>🎨 Palette de couleurs :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- Vert principal   #198754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- Bleu secondaire  #0d6efd  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- Noir sombre      #1a1a2e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- Gris texte       #333333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- Blanc            #ffffff</a:t>
            </a:r>
          </a:p>
          <a:p>
            <a:endParaRPr lang="fr-FR" sz="2400" dirty="0"/>
          </a:p>
          <a:p>
            <a:r>
              <a:rPr lang="fr-FR" sz="2400" dirty="0">
                <a:latin typeface="Arial Black" panose="020B0A04020102020204" pitchFamily="34" charset="0"/>
              </a:rPr>
              <a:t>✍️ Polices :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- Titres    → Playfair Display (expressive)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- Corps     → Poppins (lisible, moderne)</a:t>
            </a:r>
          </a:p>
          <a:p>
            <a:endParaRPr lang="fr-FR" sz="2400" dirty="0">
              <a:latin typeface="Arial Black" panose="020B0A04020102020204" pitchFamily="34" charset="0"/>
            </a:endParaRPr>
          </a:p>
          <a:p>
            <a:r>
              <a:rPr lang="fr-FR" sz="2400" dirty="0">
                <a:latin typeface="Arial Black" panose="020B0A04020102020204" pitchFamily="34" charset="0"/>
              </a:rPr>
              <a:t>🖥️ Tendances 2026 :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- Bento Grid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- Design épuré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- Typographie expressive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- Accessibilité</a:t>
            </a:r>
          </a:p>
        </p:txBody>
      </p:sp>
    </p:spTree>
    <p:extLst>
      <p:ext uri="{BB962C8B-B14F-4D97-AF65-F5344CB8AC3E}">
        <p14:creationId xmlns:p14="http://schemas.microsoft.com/office/powerpoint/2010/main" val="1051582722"/>
      </p:ext>
    </p:extLst>
  </p:cSld>
  <p:clrMapOvr>
    <a:masterClrMapping/>
  </p:clrMapOvr>
  <p:transition spd="slow"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012B9A2-EA2D-08DD-C527-4B974300E8E9}"/>
              </a:ext>
            </a:extLst>
          </p:cNvPr>
          <p:cNvSpPr txBox="1"/>
          <p:nvPr/>
        </p:nvSpPr>
        <p:spPr>
          <a:xfrm>
            <a:off x="409303" y="452846"/>
            <a:ext cx="8499566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Elephant" panose="02020904090505020303" pitchFamily="18" charset="0"/>
              </a:rPr>
              <a:t>Inspirations &amp; Design</a:t>
            </a:r>
          </a:p>
          <a:p>
            <a:endParaRPr lang="fr-FR" dirty="0"/>
          </a:p>
          <a:p>
            <a:r>
              <a:rPr lang="fr-FR" sz="2800" dirty="0">
                <a:latin typeface="Arial Black" panose="020B0A04020102020204" pitchFamily="34" charset="0"/>
              </a:rPr>
              <a:t>🎯 Choix stylistiques :</a:t>
            </a:r>
          </a:p>
          <a:p>
            <a:endParaRPr lang="fr-FR" dirty="0"/>
          </a:p>
          <a:p>
            <a:r>
              <a:rPr lang="fr-FR" sz="2400" dirty="0">
                <a:latin typeface="Berlin Sans FB" panose="020E0602020502020306" pitchFamily="34" charset="0"/>
              </a:rPr>
              <a:t>- Navbar fixe avec effet shrink au scroll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Section Hero avec dégradé sombre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Bento Grid pour "Comment ça marche"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Carousel Bootstrap pour les témoignages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Cards avec effets hover (élévation + bordure)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Animations fade-in au scroll</a:t>
            </a:r>
          </a:p>
          <a:p>
            <a:endParaRPr lang="fr-FR" dirty="0"/>
          </a:p>
          <a:p>
            <a:r>
              <a:rPr lang="fr-FR" sz="2400" dirty="0">
                <a:latin typeface="Arial Black" panose="020B0A04020102020204" pitchFamily="34" charset="0"/>
              </a:rPr>
              <a:t>🌐 Sites d'inspiration consultés :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Awwwards.com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Dribbble.com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Bootstrap Examples</a:t>
            </a:r>
          </a:p>
        </p:txBody>
      </p:sp>
    </p:spTree>
    <p:extLst>
      <p:ext uri="{BB962C8B-B14F-4D97-AF65-F5344CB8AC3E}">
        <p14:creationId xmlns:p14="http://schemas.microsoft.com/office/powerpoint/2010/main" val="1378881207"/>
      </p:ext>
    </p:extLst>
  </p:cSld>
  <p:clrMapOvr>
    <a:masterClrMapping/>
  </p:clrMapOvr>
  <p:transition spd="slow"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9D4D184-9D27-91D8-6682-EFCF48BE5CAD}"/>
              </a:ext>
            </a:extLst>
          </p:cNvPr>
          <p:cNvSpPr txBox="1"/>
          <p:nvPr/>
        </p:nvSpPr>
        <p:spPr>
          <a:xfrm>
            <a:off x="261257" y="487680"/>
            <a:ext cx="102499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Architecture du site — Pages (1/2)</a:t>
            </a:r>
          </a:p>
          <a:p>
            <a:endParaRPr lang="fr-FR" dirty="0"/>
          </a:p>
          <a:p>
            <a:r>
              <a:rPr lang="fr-FR" dirty="0"/>
              <a:t>📄 index.html — Page d'accueil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📄 freelances.html — Catalogue des freelances  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DB5C015-4AB1-80E3-E11D-09884749F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1415949"/>
            <a:ext cx="4029075" cy="225154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1F7A950-9CE2-331F-8DBA-8B2B6EB11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4241901"/>
            <a:ext cx="41433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828998"/>
      </p:ext>
    </p:extLst>
  </p:cSld>
  <p:clrMapOvr>
    <a:masterClrMapping/>
  </p:clrMapOvr>
  <p:transition spd="slow"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A823818-DA0C-E76D-79A8-E239DEBC2283}"/>
              </a:ext>
            </a:extLst>
          </p:cNvPr>
          <p:cNvSpPr txBox="1"/>
          <p:nvPr/>
        </p:nvSpPr>
        <p:spPr>
          <a:xfrm>
            <a:off x="238206" y="53788"/>
            <a:ext cx="1016597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Architecture du site — Pages (2/2)</a:t>
            </a:r>
          </a:p>
          <a:p>
            <a:endParaRPr lang="fr-FR" dirty="0"/>
          </a:p>
          <a:p>
            <a:r>
              <a:rPr lang="fr-FR" dirty="0"/>
              <a:t>📄 tarifs.html — Plans tarifaires &amp; FAQ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📄 about.html — À propos de l'équipe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📄 contact.html — Formulaire de contact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D5935E-7237-D52E-DEFC-9E702A09F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61" y="968189"/>
            <a:ext cx="2919933" cy="149070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5F667B3-ABE4-84A0-CD19-BFE33CC5C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61" y="2969880"/>
            <a:ext cx="2919933" cy="142923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FD9B18D-4698-92BC-B9EA-799F525945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62" y="4817889"/>
            <a:ext cx="2919932" cy="185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72008"/>
      </p:ext>
    </p:extLst>
  </p:cSld>
  <p:clrMapOvr>
    <a:masterClrMapping/>
  </p:clrMapOvr>
  <p:transition spd="slow"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548253C-5043-4DC6-BCC9-D8A855797E7C}"/>
              </a:ext>
            </a:extLst>
          </p:cNvPr>
          <p:cNvSpPr txBox="1"/>
          <p:nvPr/>
        </p:nvSpPr>
        <p:spPr>
          <a:xfrm>
            <a:off x="192101" y="107576"/>
            <a:ext cx="9351469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Elephant" panose="02020904090505020303" pitchFamily="18" charset="0"/>
              </a:rPr>
              <a:t>Points techniques — JavaScript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1. 🌙 Dark Mode / Light Mode</a:t>
            </a:r>
          </a:p>
          <a:p>
            <a:r>
              <a:rPr lang="fr-FR" dirty="0"/>
              <a:t>   </a:t>
            </a:r>
            <a:r>
              <a:rPr lang="fr-FR" sz="2000" dirty="0">
                <a:latin typeface="Georgia" panose="02040502050405020303" pitchFamily="18" charset="0"/>
              </a:rPr>
              <a:t>Toggle dans la navbar, sauvegardé en localStorage</a:t>
            </a:r>
          </a:p>
          <a:p>
            <a:r>
              <a:rPr lang="fr-FR" sz="2000" dirty="0">
                <a:latin typeface="Georgia" panose="02040502050405020303" pitchFamily="18" charset="0"/>
              </a:rPr>
              <a:t>   Persiste entre toutes les pages</a:t>
            </a:r>
          </a:p>
          <a:p>
            <a:endParaRPr lang="fr-FR" dirty="0"/>
          </a:p>
          <a:p>
            <a:r>
              <a:rPr lang="fr-FR" sz="2000" dirty="0">
                <a:latin typeface="Berlin Sans FB" panose="020E0602020502020306" pitchFamily="34" charset="0"/>
              </a:rPr>
              <a:t>2. 📊 Compteurs animés</a:t>
            </a:r>
          </a:p>
          <a:p>
            <a:r>
              <a:rPr lang="fr-FR" sz="2000" dirty="0">
                <a:latin typeface="Georgia" panose="02040502050405020303" pitchFamily="18" charset="0"/>
              </a:rPr>
              <a:t>   De 0 à la valeur cible au scroll</a:t>
            </a:r>
          </a:p>
          <a:p>
            <a:r>
              <a:rPr lang="fr-FR" sz="2000" dirty="0">
                <a:latin typeface="Georgia" panose="02040502050405020303" pitchFamily="18" charset="0"/>
              </a:rPr>
              <a:t>   Utilise IntersectionObserver</a:t>
            </a:r>
          </a:p>
          <a:p>
            <a:endParaRPr lang="fr-FR" dirty="0"/>
          </a:p>
          <a:p>
            <a:r>
              <a:rPr lang="fr-FR" sz="2000" dirty="0">
                <a:latin typeface="Berlin Sans FB" panose="020E0602020502020306" pitchFamily="34" charset="0"/>
              </a:rPr>
              <a:t>3. 🔍 Filtrage dynamique</a:t>
            </a:r>
          </a:p>
          <a:p>
            <a:r>
              <a:rPr lang="fr-FR" dirty="0"/>
              <a:t>   </a:t>
            </a:r>
            <a:r>
              <a:rPr lang="fr-FR" sz="2000" dirty="0">
                <a:latin typeface="Georgia" panose="02040502050405020303" pitchFamily="18" charset="0"/>
              </a:rPr>
              <a:t>Cartes freelances filtrées par catégorie</a:t>
            </a:r>
          </a:p>
          <a:p>
            <a:r>
              <a:rPr lang="fr-FR" sz="2000" dirty="0">
                <a:latin typeface="Georgia" panose="02040502050405020303" pitchFamily="18" charset="0"/>
              </a:rPr>
              <a:t>   Sans rechargement de page</a:t>
            </a:r>
          </a:p>
          <a:p>
            <a:endParaRPr lang="fr-FR" dirty="0"/>
          </a:p>
          <a:p>
            <a:r>
              <a:rPr lang="fr-FR" sz="2000" dirty="0">
                <a:latin typeface="Berlin Sans FB" panose="020E0602020502020306" pitchFamily="34" charset="0"/>
              </a:rPr>
              <a:t>4. ✅ Validation formulaire</a:t>
            </a:r>
          </a:p>
          <a:p>
            <a:r>
              <a:rPr lang="fr-FR" dirty="0"/>
              <a:t>   </a:t>
            </a:r>
            <a:r>
              <a:rPr lang="fr-FR" sz="2000" dirty="0">
                <a:latin typeface="Georgia" panose="02040502050405020303" pitchFamily="18" charset="0"/>
              </a:rPr>
              <a:t>Regex pour l'email</a:t>
            </a:r>
          </a:p>
          <a:p>
            <a:r>
              <a:rPr lang="fr-FR" sz="2000" dirty="0">
                <a:latin typeface="Georgia" panose="02040502050405020303" pitchFamily="18" charset="0"/>
              </a:rPr>
              <a:t>   Minimum 20 caractères pour le message</a:t>
            </a:r>
          </a:p>
          <a:p>
            <a:r>
              <a:rPr lang="fr-FR" sz="2000" dirty="0">
                <a:latin typeface="Georgia" panose="02040502050405020303" pitchFamily="18" charset="0"/>
              </a:rPr>
              <a:t>   Messages d'erreur personnalisés</a:t>
            </a:r>
          </a:p>
          <a:p>
            <a:endParaRPr lang="fr-FR" dirty="0"/>
          </a:p>
          <a:p>
            <a:r>
              <a:rPr lang="fr-FR" sz="2000" dirty="0">
                <a:latin typeface="Berlin Sans FB" panose="020E0602020502020306" pitchFamily="34" charset="0"/>
              </a:rPr>
              <a:t>5. 🔝 Bouton retour en haut</a:t>
            </a:r>
          </a:p>
          <a:p>
            <a:r>
              <a:rPr lang="fr-FR" dirty="0"/>
              <a:t>   </a:t>
            </a:r>
            <a:r>
              <a:rPr lang="fr-FR" sz="2000" dirty="0">
                <a:latin typeface="Georgia" panose="02040502050405020303" pitchFamily="18" charset="0"/>
              </a:rPr>
              <a:t>Apparaît après 300px de scroll</a:t>
            </a:r>
          </a:p>
          <a:p>
            <a:r>
              <a:rPr lang="fr-FR" sz="2000" dirty="0">
                <a:latin typeface="Georgia" panose="02040502050405020303" pitchFamily="18" charset="0"/>
              </a:rPr>
              <a:t>   Smooth scroll au clic</a:t>
            </a:r>
          </a:p>
        </p:txBody>
      </p:sp>
    </p:spTree>
    <p:extLst>
      <p:ext uri="{BB962C8B-B14F-4D97-AF65-F5344CB8AC3E}">
        <p14:creationId xmlns:p14="http://schemas.microsoft.com/office/powerpoint/2010/main" val="3961943301"/>
      </p:ext>
    </p:extLst>
  </p:cSld>
  <p:clrMapOvr>
    <a:masterClrMapping/>
  </p:clrMapOvr>
  <p:transition spd="slow">
    <p:split orient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E77F725-D03E-1FC6-354A-074DA64EB7DA}"/>
              </a:ext>
            </a:extLst>
          </p:cNvPr>
          <p:cNvSpPr txBox="1"/>
          <p:nvPr/>
        </p:nvSpPr>
        <p:spPr>
          <a:xfrm>
            <a:off x="284310" y="69156"/>
            <a:ext cx="10350393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>
                <a:latin typeface="Elephant" panose="02020904090505020303" pitchFamily="18" charset="0"/>
              </a:rPr>
              <a:t>Points techniques — CSS &amp; Bootstrap</a:t>
            </a:r>
          </a:p>
          <a:p>
            <a:endParaRPr lang="fr-FR" dirty="0"/>
          </a:p>
          <a:p>
            <a:r>
              <a:rPr lang="fr-FR" sz="2000" dirty="0">
                <a:latin typeface="Arial Black" panose="020B0A04020102020204" pitchFamily="34" charset="0"/>
              </a:rPr>
              <a:t>🎨 CSS avancé :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- 11 variables CSS dans :root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Bento Grid avec CSS Grid asymétrique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Animations fade-in (IntersectionObserver)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Dark mode complet (body.dark-mode)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Media queries : 375px, 768px, 1200px+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Transitions et effets hover sur les cartes</a:t>
            </a:r>
          </a:p>
          <a:p>
            <a:endParaRPr lang="fr-FR" dirty="0"/>
          </a:p>
          <a:p>
            <a:r>
              <a:rPr lang="fr-FR" sz="2000" dirty="0">
                <a:latin typeface="Arial Black" panose="020B0A04020102020204" pitchFamily="34" charset="0"/>
              </a:rPr>
              <a:t>⚡ Bootstrap 5 :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Navbar responsive avec hamburger mobile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Carousel (témoignages)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Accordion (FAQ tarifs)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Cards (freelances, catégories, équipe)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Grille responsive (col-12, col-md-6, col-lg-4)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Badge, Alert, Modal</a:t>
            </a:r>
          </a:p>
        </p:txBody>
      </p:sp>
    </p:spTree>
    <p:extLst>
      <p:ext uri="{BB962C8B-B14F-4D97-AF65-F5344CB8AC3E}">
        <p14:creationId xmlns:p14="http://schemas.microsoft.com/office/powerpoint/2010/main" val="2196655979"/>
      </p:ext>
    </p:extLst>
  </p:cSld>
  <p:clrMapOvr>
    <a:masterClrMapping/>
  </p:clrMapOvr>
  <p:transition spd="slow">
    <p:split orient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8232267-9DCA-2497-5C7D-140E7A852F96}"/>
              </a:ext>
            </a:extLst>
          </p:cNvPr>
          <p:cNvSpPr txBox="1"/>
          <p:nvPr/>
        </p:nvSpPr>
        <p:spPr>
          <a:xfrm>
            <a:off x="514830" y="0"/>
            <a:ext cx="9996928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>
                <a:latin typeface="Elephant" panose="02020904090505020303" pitchFamily="18" charset="0"/>
              </a:rPr>
              <a:t>GitHub &amp; Déploiement</a:t>
            </a:r>
          </a:p>
          <a:p>
            <a:endParaRPr lang="fr-FR" sz="2400" dirty="0">
              <a:latin typeface="Arial Black" panose="020B0A04020102020204" pitchFamily="34" charset="0"/>
            </a:endParaRPr>
          </a:p>
          <a:p>
            <a:r>
              <a:rPr lang="fr-FR" sz="2400" dirty="0">
                <a:latin typeface="Arial Black" panose="020B0A04020102020204" pitchFamily="34" charset="0"/>
              </a:rPr>
              <a:t>Dépôt : Kane-</a:t>
            </a:r>
            <a:r>
              <a:rPr lang="fr-FR" sz="2400" dirty="0" err="1">
                <a:latin typeface="Arial Black" panose="020B0A04020102020204" pitchFamily="34" charset="0"/>
              </a:rPr>
              <a:t>Papemoussa</a:t>
            </a:r>
            <a:r>
              <a:rPr lang="fr-FR" sz="2400" dirty="0">
                <a:latin typeface="Arial Black" panose="020B0A04020102020204" pitchFamily="34" charset="0"/>
              </a:rPr>
              <a:t>-</a:t>
            </a:r>
            <a:r>
              <a:rPr lang="fr-FR" sz="2400" dirty="0" err="1">
                <a:latin typeface="Arial Black" panose="020B0A04020102020204" pitchFamily="34" charset="0"/>
              </a:rPr>
              <a:t>AfriTalent</a:t>
            </a:r>
            <a:endParaRPr lang="fr-FR" sz="2400" dirty="0">
              <a:latin typeface="Arial Black" panose="020B0A04020102020204" pitchFamily="34" charset="0"/>
            </a:endParaRPr>
          </a:p>
          <a:p>
            <a:endParaRPr lang="fr-FR" sz="2000" dirty="0"/>
          </a:p>
          <a:p>
            <a:r>
              <a:rPr lang="fr-FR" sz="2000" dirty="0">
                <a:latin typeface="Berlin Sans FB Demi" panose="020E0802020502020306" pitchFamily="34" charset="0"/>
              </a:rPr>
              <a:t>✅ 10 commits réalisés :</a:t>
            </a:r>
          </a:p>
          <a:p>
            <a:r>
              <a:rPr lang="fr-FR" sz="2400" dirty="0"/>
              <a:t>1. Init : création du dépôt, arborescence...</a:t>
            </a:r>
          </a:p>
          <a:p>
            <a:r>
              <a:rPr lang="fr-FR" sz="2400" dirty="0"/>
              <a:t>2. HTML : structure complète des 5 pages...</a:t>
            </a:r>
          </a:p>
          <a:p>
            <a:r>
              <a:rPr lang="fr-FR" sz="2400" dirty="0"/>
              <a:t>3. CSS : variables, typographie, layout...</a:t>
            </a:r>
          </a:p>
          <a:p>
            <a:r>
              <a:rPr lang="fr-FR" sz="2400" dirty="0"/>
              <a:t>4. CSS : Bento Grid, sections hero...</a:t>
            </a:r>
          </a:p>
          <a:p>
            <a:r>
              <a:rPr lang="fr-FR" sz="2400" dirty="0"/>
              <a:t>5. CSS : responsive design mobile et tablette...</a:t>
            </a:r>
          </a:p>
          <a:p>
            <a:r>
              <a:rPr lang="fr-FR" sz="2400" dirty="0">
                <a:latin typeface="Arial Black" panose="020B0A04020102020204" pitchFamily="34" charset="0"/>
              </a:rPr>
              <a:t>📁 </a:t>
            </a:r>
            <a:r>
              <a:rPr lang="fr-FR" sz="2400" dirty="0"/>
              <a:t>6. JS : dark mode avec localStorage...</a:t>
            </a:r>
          </a:p>
          <a:p>
            <a:r>
              <a:rPr lang="fr-FR" sz="2400" dirty="0"/>
              <a:t>7. JS : compteurs animés au scroll...</a:t>
            </a:r>
          </a:p>
          <a:p>
            <a:r>
              <a:rPr lang="fr-FR" sz="2400" dirty="0"/>
              <a:t>8. JS : filtrage dynamique des freelances...</a:t>
            </a:r>
          </a:p>
          <a:p>
            <a:r>
              <a:rPr lang="fr-FR" sz="2400" dirty="0"/>
              <a:t>9. Finalisation : corrections responsive...</a:t>
            </a:r>
          </a:p>
          <a:p>
            <a:r>
              <a:rPr lang="fr-FR" sz="2400" dirty="0"/>
              <a:t>10. Déploiement : GitHub Pages activé...</a:t>
            </a:r>
          </a:p>
          <a:p>
            <a:endParaRPr lang="fr-FR" dirty="0"/>
          </a:p>
          <a:p>
            <a:r>
              <a:rPr lang="fr-FR" dirty="0">
                <a:latin typeface="Arial Black" panose="020B0A04020102020204" pitchFamily="34" charset="0"/>
              </a:rPr>
              <a:t>🌐 Lien GitHub Pages :</a:t>
            </a:r>
          </a:p>
          <a:p>
            <a:endParaRPr lang="fr-FR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C8D83C-5F3C-69F1-2A3A-AAEBC6195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355" y="611649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https://papemoussakane224.github.io/Kane-Papemoussa-AfriTalent-/</a:t>
            </a:r>
          </a:p>
        </p:txBody>
      </p:sp>
    </p:spTree>
    <p:extLst>
      <p:ext uri="{BB962C8B-B14F-4D97-AF65-F5344CB8AC3E}">
        <p14:creationId xmlns:p14="http://schemas.microsoft.com/office/powerpoint/2010/main" val="1387738159"/>
      </p:ext>
    </p:extLst>
  </p:cSld>
  <p:clrMapOvr>
    <a:masterClrMapping/>
  </p:clrMapOvr>
  <p:transition spd="slow">
    <p:split orient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0546430-6976-DC02-ABA6-B425D3BBC419}"/>
              </a:ext>
            </a:extLst>
          </p:cNvPr>
          <p:cNvSpPr txBox="1"/>
          <p:nvPr/>
        </p:nvSpPr>
        <p:spPr>
          <a:xfrm>
            <a:off x="391886" y="361150"/>
            <a:ext cx="9459045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 Black" panose="020B0A04020102020204" pitchFamily="34" charset="0"/>
              </a:rPr>
              <a:t>Difficultés rencontrées &amp; Solutions</a:t>
            </a:r>
          </a:p>
          <a:p>
            <a:endParaRPr lang="fr-FR" dirty="0"/>
          </a:p>
          <a:p>
            <a:r>
              <a:rPr lang="fr-FR" dirty="0">
                <a:latin typeface="Arial Black" panose="020B0A04020102020204" pitchFamily="34" charset="0"/>
              </a:rPr>
              <a:t>❌ Problème 1 : </a:t>
            </a:r>
            <a:r>
              <a:rPr lang="fr-FR" sz="2000" dirty="0">
                <a:latin typeface="Berlin Sans FB" panose="020E0602020502020306" pitchFamily="34" charset="0"/>
              </a:rPr>
              <a:t>Carousel Bootstrap ne fonctionnait pas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✅ Solution : Bootstrap JS manquant avant &lt;/body&gt;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   → Ajout de bootstrap.bundle.min.js</a:t>
            </a:r>
          </a:p>
          <a:p>
            <a:endParaRPr lang="fr-FR" sz="2000" dirty="0">
              <a:latin typeface="Berlin Sans FB" panose="020E0602020502020306" pitchFamily="34" charset="0"/>
            </a:endParaRPr>
          </a:p>
          <a:p>
            <a:r>
              <a:rPr lang="fr-FR" dirty="0">
                <a:latin typeface="Arial Black" panose="020B0A04020102020204" pitchFamily="34" charset="0"/>
              </a:rPr>
              <a:t>❌ Problème 2 : </a:t>
            </a:r>
            <a:r>
              <a:rPr lang="fr-FR" sz="2000" dirty="0">
                <a:latin typeface="Berlin Sans FB" panose="020E0602020502020306" pitchFamily="34" charset="0"/>
              </a:rPr>
              <a:t>Dark mode ne marchait pas sur certaines pages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✅ Solution : Script chargé avant le bouton dans le HTML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   → Scripts déplacés tout en bas avant &lt;/body&gt;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   → Ajout d'un if() pour </a:t>
            </a:r>
            <a:r>
              <a:rPr lang="fr-FR" sz="2000" dirty="0" err="1">
                <a:latin typeface="Berlin Sans FB" panose="020E0602020502020306" pitchFamily="34" charset="0"/>
              </a:rPr>
              <a:t>currentYear</a:t>
            </a:r>
            <a:r>
              <a:rPr lang="fr-FR" sz="2000" dirty="0">
                <a:latin typeface="Berlin Sans FB" panose="020E0602020502020306" pitchFamily="34" charset="0"/>
              </a:rPr>
              <a:t> inexistant</a:t>
            </a:r>
          </a:p>
          <a:p>
            <a:endParaRPr lang="fr-FR" dirty="0"/>
          </a:p>
          <a:p>
            <a:r>
              <a:rPr lang="fr-FR" dirty="0">
                <a:latin typeface="Arial Black" panose="020B0A04020102020204" pitchFamily="34" charset="0"/>
              </a:rPr>
              <a:t>❌ Problème 3 : </a:t>
            </a:r>
            <a:r>
              <a:rPr lang="fr-FR" sz="2000" dirty="0">
                <a:latin typeface="Berlin Sans FB" panose="020E0602020502020306" pitchFamily="34" charset="0"/>
              </a:rPr>
              <a:t>Erreurs W3C sur la hiérarchie des titres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✅ Solution : h5/h6 remplacés par h3/h4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   → Respect de l'ordre h1 → h2 → h3</a:t>
            </a:r>
          </a:p>
          <a:p>
            <a:endParaRPr lang="fr-FR" dirty="0"/>
          </a:p>
          <a:p>
            <a:r>
              <a:rPr lang="fr-FR" dirty="0">
                <a:latin typeface="Arial Black" panose="020B0A04020102020204" pitchFamily="34" charset="0"/>
              </a:rPr>
              <a:t>❌ Problème 4 : </a:t>
            </a:r>
            <a:r>
              <a:rPr lang="fr-FR" sz="2000" dirty="0">
                <a:latin typeface="Berlin Sans FB" panose="020E0602020502020306" pitchFamily="34" charset="0"/>
              </a:rPr>
              <a:t>Images du </a:t>
            </a:r>
            <a:r>
              <a:rPr lang="fr-FR" sz="2000" dirty="0" err="1">
                <a:latin typeface="Berlin Sans FB" panose="020E0602020502020306" pitchFamily="34" charset="0"/>
              </a:rPr>
              <a:t>carousel</a:t>
            </a:r>
            <a:r>
              <a:rPr lang="fr-FR" sz="2000" dirty="0">
                <a:latin typeface="Berlin Sans FB" panose="020E0602020502020306" pitchFamily="34" charset="0"/>
              </a:rPr>
              <a:t> trop zoomées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✅ Solution : </a:t>
            </a:r>
            <a:r>
              <a:rPr lang="fr-FR" sz="2000" dirty="0" err="1">
                <a:latin typeface="Berlin Sans FB" panose="020E0602020502020306" pitchFamily="34" charset="0"/>
              </a:rPr>
              <a:t>object</a:t>
            </a:r>
            <a:r>
              <a:rPr lang="fr-FR" sz="2000" dirty="0">
                <a:latin typeface="Berlin Sans FB" panose="020E0602020502020306" pitchFamily="34" charset="0"/>
              </a:rPr>
              <a:t>-fit: cover + </a:t>
            </a:r>
            <a:r>
              <a:rPr lang="fr-FR" sz="2000" dirty="0" err="1">
                <a:latin typeface="Berlin Sans FB" panose="020E0602020502020306" pitchFamily="34" charset="0"/>
              </a:rPr>
              <a:t>object</a:t>
            </a:r>
            <a:r>
              <a:rPr lang="fr-FR" sz="2000" dirty="0">
                <a:latin typeface="Berlin Sans FB" panose="020E0602020502020306" pitchFamily="34" charset="0"/>
              </a:rPr>
              <a:t>-position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   → Cadrage correct des photos</a:t>
            </a:r>
          </a:p>
        </p:txBody>
      </p:sp>
    </p:spTree>
    <p:extLst>
      <p:ext uri="{BB962C8B-B14F-4D97-AF65-F5344CB8AC3E}">
        <p14:creationId xmlns:p14="http://schemas.microsoft.com/office/powerpoint/2010/main" val="3190301690"/>
      </p:ext>
    </p:extLst>
  </p:cSld>
  <p:clrMapOvr>
    <a:masterClrMapping/>
  </p:clrMapOvr>
  <p:transition spd="slow">
    <p:split orient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FD90D4B-4575-BB71-B1F0-7E280510E77E}"/>
              </a:ext>
            </a:extLst>
          </p:cNvPr>
          <p:cNvSpPr txBox="1"/>
          <p:nvPr/>
        </p:nvSpPr>
        <p:spPr>
          <a:xfrm>
            <a:off x="414937" y="0"/>
            <a:ext cx="1055017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>
                <a:latin typeface="Elephant" panose="02020904090505020303" pitchFamily="18" charset="0"/>
              </a:rPr>
              <a:t>Ressources consultées</a:t>
            </a:r>
          </a:p>
          <a:p>
            <a:endParaRPr lang="fr-FR" dirty="0"/>
          </a:p>
          <a:p>
            <a:r>
              <a:rPr lang="fr-FR" sz="2000" dirty="0">
                <a:latin typeface="Arial Black" panose="020B0A04020102020204" pitchFamily="34" charset="0"/>
              </a:rPr>
              <a:t>📚 Documentation :</a:t>
            </a:r>
          </a:p>
          <a:p>
            <a:r>
              <a:rPr lang="fr-FR" dirty="0"/>
              <a:t>- MDN Web Docs — developer.mozilla.org/</a:t>
            </a:r>
            <a:r>
              <a:rPr lang="fr-FR" dirty="0" err="1"/>
              <a:t>fr</a:t>
            </a:r>
            <a:endParaRPr lang="fr-FR" dirty="0"/>
          </a:p>
          <a:p>
            <a:r>
              <a:rPr lang="fr-FR" dirty="0"/>
              <a:t>- Bootstrap 5 — getbootstrap.com/docs/5.3</a:t>
            </a:r>
          </a:p>
          <a:p>
            <a:r>
              <a:rPr lang="fr-FR" dirty="0"/>
              <a:t>- Bootstrap </a:t>
            </a:r>
            <a:r>
              <a:rPr lang="fr-FR" dirty="0" err="1"/>
              <a:t>Icons</a:t>
            </a:r>
            <a:r>
              <a:rPr lang="fr-FR" dirty="0"/>
              <a:t> — icons.getbootstrap.com</a:t>
            </a:r>
          </a:p>
          <a:p>
            <a:r>
              <a:rPr lang="fr-FR" dirty="0"/>
              <a:t>- Google Fonts — fonts.google.com</a:t>
            </a:r>
          </a:p>
          <a:p>
            <a:endParaRPr lang="fr-FR" dirty="0"/>
          </a:p>
          <a:p>
            <a:r>
              <a:rPr lang="fr-FR" sz="2000" dirty="0">
                <a:latin typeface="Arial Black" panose="020B0A04020102020204" pitchFamily="34" charset="0"/>
              </a:rPr>
              <a:t>✅ Validation :</a:t>
            </a:r>
          </a:p>
          <a:p>
            <a:r>
              <a:rPr lang="fr-FR" dirty="0"/>
              <a:t>- W3C </a:t>
            </a:r>
            <a:r>
              <a:rPr lang="fr-FR" dirty="0" err="1"/>
              <a:t>Validator</a:t>
            </a:r>
            <a:r>
              <a:rPr lang="fr-FR" dirty="0"/>
              <a:t> — validator.w3.org</a:t>
            </a:r>
          </a:p>
          <a:p>
            <a:endParaRPr lang="fr-FR" dirty="0"/>
          </a:p>
          <a:p>
            <a:r>
              <a:rPr lang="fr-FR" sz="2000" dirty="0">
                <a:latin typeface="Arial Black" panose="020B0A04020102020204" pitchFamily="34" charset="0"/>
              </a:rPr>
              <a:t>🖼️ Images :</a:t>
            </a:r>
          </a:p>
          <a:p>
            <a:r>
              <a:rPr lang="fr-FR" dirty="0"/>
              <a:t>- </a:t>
            </a:r>
            <a:r>
              <a:rPr lang="fr-FR" dirty="0" err="1"/>
              <a:t>Unsplash</a:t>
            </a:r>
            <a:r>
              <a:rPr lang="fr-FR" dirty="0"/>
              <a:t> — unsplash.com</a:t>
            </a:r>
          </a:p>
          <a:p>
            <a:r>
              <a:rPr lang="fr-FR" dirty="0"/>
              <a:t>- </a:t>
            </a:r>
            <a:r>
              <a:rPr lang="fr-FR" dirty="0" err="1"/>
              <a:t>Pexels</a:t>
            </a:r>
            <a:r>
              <a:rPr lang="fr-FR" dirty="0"/>
              <a:t> — pexels.com</a:t>
            </a:r>
          </a:p>
          <a:p>
            <a:r>
              <a:rPr lang="fr-FR" dirty="0"/>
              <a:t>- UI Avatars — ui-avatars.com</a:t>
            </a:r>
          </a:p>
          <a:p>
            <a:endParaRPr lang="fr-FR" dirty="0"/>
          </a:p>
          <a:p>
            <a:r>
              <a:rPr lang="fr-FR" dirty="0">
                <a:latin typeface="Arial Black" panose="020B0A04020102020204" pitchFamily="34" charset="0"/>
              </a:rPr>
              <a:t>🎨 Inspiration design :</a:t>
            </a:r>
          </a:p>
          <a:p>
            <a:r>
              <a:rPr lang="fr-FR" dirty="0"/>
              <a:t>- </a:t>
            </a:r>
            <a:r>
              <a:rPr lang="fr-FR" dirty="0" err="1"/>
              <a:t>Awwwards</a:t>
            </a:r>
            <a:r>
              <a:rPr lang="fr-FR" dirty="0"/>
              <a:t> — awwwards.com</a:t>
            </a:r>
          </a:p>
          <a:p>
            <a:r>
              <a:rPr lang="fr-FR" dirty="0"/>
              <a:t>- </a:t>
            </a:r>
            <a:r>
              <a:rPr lang="fr-FR" dirty="0" err="1"/>
              <a:t>Dribbble</a:t>
            </a:r>
            <a:r>
              <a:rPr lang="fr-FR" dirty="0"/>
              <a:t> — dribbble.com</a:t>
            </a:r>
            <a:endParaRPr lang="fr-FR" dirty="0">
              <a:latin typeface="Arial Black" panose="020B0A04020102020204" pitchFamily="34" charset="0"/>
            </a:endParaRPr>
          </a:p>
          <a:p>
            <a:endParaRPr lang="fr-FR" dirty="0">
              <a:latin typeface="Arial Black" panose="020B0A04020102020204" pitchFamily="34" charset="0"/>
            </a:endParaRPr>
          </a:p>
          <a:p>
            <a:r>
              <a:rPr lang="fr-FR" dirty="0">
                <a:latin typeface="Arial Black" panose="020B0A04020102020204" pitchFamily="34" charset="0"/>
              </a:rPr>
              <a:t>🎓 Cours et supports </a:t>
            </a:r>
            <a:r>
              <a:rPr lang="fr-FR" dirty="0"/>
              <a:t>:</a:t>
            </a:r>
          </a:p>
          <a:p>
            <a:r>
              <a:rPr lang="fr-FR" dirty="0"/>
              <a:t>- Cours HTML/CSS/JS — ISI</a:t>
            </a:r>
          </a:p>
          <a:p>
            <a:r>
              <a:rPr lang="fr-FR" dirty="0"/>
              <a:t>- Support Bootstrap — Robert DIASSÉ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DAB4141-A8C6-F5A4-0FA0-E9CC407CBE6B}"/>
              </a:ext>
            </a:extLst>
          </p:cNvPr>
          <p:cNvSpPr txBox="1"/>
          <p:nvPr/>
        </p:nvSpPr>
        <p:spPr>
          <a:xfrm>
            <a:off x="5939758" y="1014292"/>
            <a:ext cx="368833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🤖 Assistant IA :</a:t>
            </a:r>
          </a:p>
          <a:p>
            <a:r>
              <a:rPr lang="fr-FR" dirty="0"/>
              <a:t>- Claude (</a:t>
            </a:r>
            <a:r>
              <a:rPr lang="fr-FR" dirty="0" err="1"/>
              <a:t>Anthropic</a:t>
            </a:r>
            <a:r>
              <a:rPr lang="fr-FR" dirty="0"/>
              <a:t>) — claude.ai</a:t>
            </a:r>
          </a:p>
          <a:p>
            <a:r>
              <a:rPr lang="fr-FR" dirty="0"/>
              <a:t>  Aide à la correction de bugs et explications</a:t>
            </a:r>
          </a:p>
        </p:txBody>
      </p:sp>
    </p:spTree>
    <p:extLst>
      <p:ext uri="{BB962C8B-B14F-4D97-AF65-F5344CB8AC3E}">
        <p14:creationId xmlns:p14="http://schemas.microsoft.com/office/powerpoint/2010/main" val="1920495448"/>
      </p:ext>
    </p:extLst>
  </p:cSld>
  <p:clrMapOvr>
    <a:masterClrMapping/>
  </p:clrMapOvr>
  <p:transition spd="slow">
    <p:split orient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A9AF24B-E5E5-7254-CF25-FA971D3AF54E}"/>
              </a:ext>
            </a:extLst>
          </p:cNvPr>
          <p:cNvSpPr txBox="1"/>
          <p:nvPr/>
        </p:nvSpPr>
        <p:spPr>
          <a:xfrm>
            <a:off x="891347" y="176733"/>
            <a:ext cx="8736747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>
                <a:latin typeface="Elephant" panose="02020904090505020303" pitchFamily="18" charset="0"/>
              </a:rPr>
              <a:t>Démonstration live 🎥</a:t>
            </a:r>
          </a:p>
          <a:p>
            <a:endParaRPr lang="fr-FR" dirty="0"/>
          </a:p>
          <a:p>
            <a:r>
              <a:rPr lang="fr-FR" dirty="0">
                <a:latin typeface="Arial Black" panose="020B0A04020102020204" pitchFamily="34" charset="0"/>
              </a:rPr>
              <a:t>🌐 Site accessible en ligne :</a:t>
            </a:r>
          </a:p>
          <a:p>
            <a:r>
              <a:rPr lang="fr-FR" b="1" dirty="0"/>
              <a:t>https://papemoussakane224.github.io/Kane-Papemoussa-AfriTalent-/</a:t>
            </a:r>
          </a:p>
          <a:p>
            <a:endParaRPr lang="fr-FR" dirty="0"/>
          </a:p>
          <a:p>
            <a:r>
              <a:rPr lang="fr-FR" dirty="0">
                <a:latin typeface="Arial Black" panose="020B0A04020102020204" pitchFamily="34" charset="0"/>
              </a:rPr>
              <a:t>📄 Pages à démontrer :</a:t>
            </a:r>
          </a:p>
          <a:p>
            <a:r>
              <a:rPr lang="fr-FR" dirty="0"/>
              <a:t>- </a:t>
            </a:r>
            <a:r>
              <a:rPr lang="fr-FR" sz="2000" dirty="0">
                <a:latin typeface="Berlin Sans FB" panose="020E0602020502020306" pitchFamily="34" charset="0"/>
              </a:rPr>
              <a:t>index.html — Accueil + Dark mode + Compteurs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freelances.html — Filtrage par catégorie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tarifs.html — FAQ Accordion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about.html — Compteurs animés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contact.html — Validation formulaire</a:t>
            </a:r>
          </a:p>
          <a:p>
            <a:endParaRPr lang="fr-FR" dirty="0"/>
          </a:p>
          <a:p>
            <a:r>
              <a:rPr lang="fr-FR" dirty="0"/>
              <a:t>⚡ Fonctionnalités à montrer en live :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Toggle Dark/Light mode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Filtrage des freelances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Formulaire avec erreurs et succès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Bouton retour en haut</a:t>
            </a:r>
          </a:p>
          <a:p>
            <a:r>
              <a:rPr lang="fr-FR" sz="2000" dirty="0">
                <a:latin typeface="Berlin Sans FB" panose="020E0602020502020306" pitchFamily="34" charset="0"/>
              </a:rPr>
              <a:t>- Navbar au scroll</a:t>
            </a:r>
          </a:p>
        </p:txBody>
      </p:sp>
    </p:spTree>
    <p:extLst>
      <p:ext uri="{BB962C8B-B14F-4D97-AF65-F5344CB8AC3E}">
        <p14:creationId xmlns:p14="http://schemas.microsoft.com/office/powerpoint/2010/main" val="2665654325"/>
      </p:ext>
    </p:extLst>
  </p:cSld>
  <p:clrMapOvr>
    <a:masterClrMapping/>
  </p:clrMapOvr>
  <p:transition spd="slow">
    <p:split orient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9E82A7F-A727-CDE5-F0D5-F36CB2EB8594}"/>
              </a:ext>
            </a:extLst>
          </p:cNvPr>
          <p:cNvSpPr txBox="1"/>
          <p:nvPr/>
        </p:nvSpPr>
        <p:spPr>
          <a:xfrm>
            <a:off x="545566" y="484094"/>
            <a:ext cx="9120948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>
                <a:latin typeface="Elephant" panose="02020904090505020303" pitchFamily="18" charset="0"/>
              </a:rPr>
              <a:t>Conclusion &amp; Perspectives</a:t>
            </a:r>
          </a:p>
          <a:p>
            <a:endParaRPr lang="fr-FR" dirty="0"/>
          </a:p>
          <a:p>
            <a:r>
              <a:rPr lang="fr-FR" sz="2000" b="1" dirty="0"/>
              <a:t>✅ Ce que j'ai appris :</a:t>
            </a:r>
          </a:p>
          <a:p>
            <a:r>
              <a:rPr lang="fr-FR" dirty="0">
                <a:latin typeface="Berlin Sans FB" panose="020E0602020502020306" pitchFamily="34" charset="0"/>
              </a:rPr>
              <a:t>- Structure HTML5 sémantique</a:t>
            </a:r>
          </a:p>
          <a:p>
            <a:r>
              <a:rPr lang="fr-FR" dirty="0">
                <a:latin typeface="Berlin Sans FB" panose="020E0602020502020306" pitchFamily="34" charset="0"/>
              </a:rPr>
              <a:t>- CSS avancé : Grid, Flexbox, animations</a:t>
            </a:r>
          </a:p>
          <a:p>
            <a:r>
              <a:rPr lang="fr-FR" dirty="0">
                <a:latin typeface="Berlin Sans FB" panose="020E0602020502020306" pitchFamily="34" charset="0"/>
              </a:rPr>
              <a:t>- Bootstrap 5 : composants et personnalisation</a:t>
            </a:r>
          </a:p>
          <a:p>
            <a:r>
              <a:rPr lang="fr-FR" dirty="0">
                <a:latin typeface="Berlin Sans FB" panose="020E0602020502020306" pitchFamily="34" charset="0"/>
              </a:rPr>
              <a:t>- JavaScript vanilla : DOM, événements, localStorage</a:t>
            </a:r>
          </a:p>
          <a:p>
            <a:r>
              <a:rPr lang="fr-FR" dirty="0">
                <a:latin typeface="Berlin Sans FB" panose="020E0602020502020306" pitchFamily="34" charset="0"/>
              </a:rPr>
              <a:t>- Git &amp; GitHub : versioning et déploiement</a:t>
            </a:r>
          </a:p>
          <a:p>
            <a:r>
              <a:rPr lang="fr-FR" dirty="0">
                <a:latin typeface="Berlin Sans FB" panose="020E0602020502020306" pitchFamily="34" charset="0"/>
              </a:rPr>
              <a:t>- Validation W3C et accessibilité</a:t>
            </a:r>
          </a:p>
          <a:p>
            <a:endParaRPr lang="fr-FR" dirty="0"/>
          </a:p>
          <a:p>
            <a:r>
              <a:rPr lang="fr-FR" sz="2000" b="1" dirty="0"/>
              <a:t>🚀 Perspectives d'amélioration :</a:t>
            </a:r>
          </a:p>
          <a:p>
            <a:r>
              <a:rPr lang="fr-FR" dirty="0">
                <a:latin typeface="Berlin Sans FB" panose="020E0602020502020306" pitchFamily="34" charset="0"/>
              </a:rPr>
              <a:t>- Ajouter une page Blog</a:t>
            </a:r>
          </a:p>
          <a:p>
            <a:r>
              <a:rPr lang="fr-FR" dirty="0">
                <a:latin typeface="Berlin Sans FB" panose="020E0602020502020306" pitchFamily="34" charset="0"/>
              </a:rPr>
              <a:t>- Système d'inscription réel avec backend</a:t>
            </a:r>
          </a:p>
          <a:p>
            <a:r>
              <a:rPr lang="fr-FR" dirty="0">
                <a:latin typeface="Berlin Sans FB" panose="020E0602020502020306" pitchFamily="34" charset="0"/>
              </a:rPr>
              <a:t>- Base de données pour les profils freelances</a:t>
            </a:r>
          </a:p>
          <a:p>
            <a:r>
              <a:rPr lang="fr-FR" dirty="0">
                <a:latin typeface="Berlin Sans FB" panose="020E0602020502020306" pitchFamily="34" charset="0"/>
              </a:rPr>
              <a:t>- Système de messagerie entre freelances et entreprises</a:t>
            </a:r>
          </a:p>
          <a:p>
            <a:r>
              <a:rPr lang="fr-FR" dirty="0">
                <a:latin typeface="Berlin Sans FB" panose="020E0602020502020306" pitchFamily="34" charset="0"/>
              </a:rPr>
              <a:t>- Application mobile AfriTalent</a:t>
            </a:r>
          </a:p>
          <a:p>
            <a:r>
              <a:rPr lang="fr-FR" dirty="0">
                <a:latin typeface="Berlin Sans FB" panose="020E0602020502020306" pitchFamily="34" charset="0"/>
              </a:rPr>
              <a:t>- Intégration paiement mobile money (Wave, Orange Money)</a:t>
            </a:r>
          </a:p>
          <a:p>
            <a:endParaRPr lang="fr-FR" dirty="0">
              <a:latin typeface="Berlin Sans FB" panose="020E0602020502020306" pitchFamily="34" charset="0"/>
            </a:endParaRPr>
          </a:p>
          <a:p>
            <a:r>
              <a:rPr lang="fr-FR" dirty="0"/>
              <a:t>🙏 Merci de votre attention !</a:t>
            </a:r>
          </a:p>
        </p:txBody>
      </p:sp>
    </p:spTree>
    <p:extLst>
      <p:ext uri="{BB962C8B-B14F-4D97-AF65-F5344CB8AC3E}">
        <p14:creationId xmlns:p14="http://schemas.microsoft.com/office/powerpoint/2010/main" val="822927182"/>
      </p:ext>
    </p:extLst>
  </p:cSld>
  <p:clrMapOvr>
    <a:masterClrMapping/>
  </p:clrMapOvr>
  <p:transition spd="slow">
    <p:split orient="vert"/>
  </p:transition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246</TotalTime>
  <Words>1124</Words>
  <Application>Microsoft Office PowerPoint</Application>
  <PresentationFormat>Grand écran</PresentationFormat>
  <Paragraphs>235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4" baseType="lpstr">
      <vt:lpstr>Arial</vt:lpstr>
      <vt:lpstr>Arial Black</vt:lpstr>
      <vt:lpstr>Berlin Sans FB</vt:lpstr>
      <vt:lpstr>Berlin Sans FB Demi</vt:lpstr>
      <vt:lpstr>Calibri</vt:lpstr>
      <vt:lpstr>Elephant</vt:lpstr>
      <vt:lpstr>Georgia</vt:lpstr>
      <vt:lpstr>Trebuchet MS</vt:lpstr>
      <vt:lpstr>Wingdings 3</vt:lpstr>
      <vt:lpstr>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Pmk kane</dc:creator>
  <cp:lastModifiedBy>Pmk kane</cp:lastModifiedBy>
  <cp:revision>2</cp:revision>
  <dcterms:created xsi:type="dcterms:W3CDTF">2026-06-15T20:45:56Z</dcterms:created>
  <dcterms:modified xsi:type="dcterms:W3CDTF">2026-06-17T00:01:50Z</dcterms:modified>
</cp:coreProperties>
</file>